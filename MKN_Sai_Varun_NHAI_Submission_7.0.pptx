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(ms)</c:v>
                </c:pt>
              </c:strCache>
            </c:strRef>
          </c:tx>
          <c:spPr>
            <a:solidFill>
              <a:srgbClr val="0072F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C66-4A4E-AE5E-77AE0D28B025}"/>
              </c:ext>
            </c:extLst>
          </c:dPt>
          <c:dPt>
            <c:idx val="1"/>
            <c:invertIfNegative val="0"/>
            <c:bubble3D val="0"/>
            <c:spPr>
              <a:solidFill>
                <a:srgbClr val="00C6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C66-4A4E-AE5E-77AE0D28B025}"/>
              </c:ext>
            </c:extLst>
          </c:dPt>
          <c:dPt>
            <c:idx val="2"/>
            <c:invertIfNegative val="0"/>
            <c:bubble3D val="0"/>
            <c:spPr>
              <a:solidFill>
                <a:srgbClr val="00D6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C66-4A4E-AE5E-77AE0D28B025}"/>
              </c:ext>
            </c:extLst>
          </c:dPt>
          <c:dPt>
            <c:idx val="3"/>
            <c:invertIfNegative val="0"/>
            <c:bubble3D val="0"/>
            <c:spPr>
              <a:solidFill>
                <a:srgbClr val="FFB8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C66-4A4E-AE5E-77AE0D28B025}"/>
              </c:ext>
            </c:extLst>
          </c:dPt>
          <c:dPt>
            <c:idx val="4"/>
            <c:invertIfNegative val="0"/>
            <c:bubble3D val="0"/>
            <c:spPr>
              <a:solidFill>
                <a:srgbClr val="8B9DC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C66-4A4E-AE5E-77AE0D28B02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BlazeFace Detection</c:v>
                </c:pt>
                <c:pt idx="1">
                  <c:v>MobileFaceNet Embedding</c:v>
                </c:pt>
                <c:pt idx="2">
                  <c:v>Liveness Check</c:v>
                </c:pt>
                <c:pt idx="3">
                  <c:v>Fusion Matching</c:v>
                </c:pt>
                <c:pt idx="4">
                  <c:v>SQLite Write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262</c:v>
                </c:pt>
                <c:pt idx="1">
                  <c:v>216</c:v>
                </c:pt>
                <c:pt idx="2">
                  <c:v>85</c:v>
                </c:pt>
                <c:pt idx="3">
                  <c:v>12</c:v>
                </c:pt>
                <c:pt idx="4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C66-4A4E-AE5E-77AE0D28B0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DC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E2A3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DC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61D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2498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16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516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9516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664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1812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1812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1812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4108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4108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4108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914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kern="0" spc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PRISM</a:t>
            </a:r>
            <a:endParaRPr lang="en-US" sz="7200" dirty="0"/>
          </a:p>
        </p:txBody>
      </p:sp>
      <p:sp>
        <p:nvSpPr>
          <p:cNvPr id="28" name="Shape 26"/>
          <p:cNvSpPr/>
          <p:nvPr/>
        </p:nvSpPr>
        <p:spPr>
          <a:xfrm>
            <a:off x="457200" y="2148840"/>
            <a:ext cx="2926080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Biometric Mesh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57200" y="27889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Facial Recognition for Field Personnel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NHAI Hackathon 2026  </a:t>
            </a:r>
            <a:r>
              <a:rPr lang="en-US" sz="12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  Datalake 3.0 Integration    |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MKN Sai Varun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858000" y="1371600"/>
            <a:ext cx="2011680" cy="2011680"/>
          </a:xfrm>
          <a:prstGeom prst="rect">
            <a:avLst/>
          </a:prstGeom>
          <a:solidFill>
            <a:srgbClr val="161D2A"/>
          </a:solidFill>
          <a:ln w="12700">
            <a:solidFill>
              <a:srgbClr val="00C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858000" y="14630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6858000" y="237744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ON-DEVICE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personnel in remote locations need secure attendance — without internet.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2651760" cy="29260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📶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Connectivity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job sites have zero or intermittent network access. Cloud-based systems fail completely.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600200"/>
            <a:ext cx="2651760" cy="29260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☀️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20040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Conditions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Indian field sites: harsh sunlight, deep shadows, dust, and rapid lighting changes.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600200"/>
            <a:ext cx="2651760" cy="29260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🃏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3504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Spoofing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badge systems can be fooled with a printed photo. Biometric liveness detection required.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846320"/>
            <a:ext cx="9144000" cy="301752"/>
          </a:xfrm>
          <a:prstGeom prst="rect">
            <a:avLst/>
          </a:prstGeom>
          <a:solidFill>
            <a:srgbClr val="0072FF">
              <a:alpha val="20000"/>
            </a:srgbClr>
          </a:solidFill>
          <a:ln w="12700">
            <a:solidFill>
              <a:srgbClr val="0072F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846320"/>
            <a:ext cx="8412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solves all three — entirely on-device, no internet required.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PIPELINE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19072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719072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👁️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19072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07792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63824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63824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163824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BlazeFace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52544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08576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08576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FaceNet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97296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53328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53328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42048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1005840"/>
            <a:ext cx="1188720" cy="1371600"/>
          </a:xfrm>
          <a:prstGeom prst="rect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98080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98080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063240"/>
            <a:ext cx="2697480" cy="1737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063240"/>
            <a:ext cx="64008" cy="173736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🔆  ABM Dual-Channel Fusion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0352" y="3566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Dynamically blends RGB photometric + geometric ratio channels based on lighting conditions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46120" y="3063240"/>
            <a:ext cx="2697480" cy="1737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46120" y="3063240"/>
            <a:ext cx="64008" cy="173736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10712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Zero Biometric Leakage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0712" y="3566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metadata syncs to cloud. Face images and embeddings never leave the device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3063240"/>
            <a:ext cx="2697480" cy="1737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126480" y="3063240"/>
            <a:ext cx="64008" cy="173736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91072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Sub-Second Inference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91072" y="3566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&lt;1s on mid-range Android CPU with 9MB total model bundle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ABM — ADAPTIVE BIOMETRIC MESH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3474720" cy="3474720"/>
          </a:xfrm>
          <a:prstGeom prst="rect">
            <a:avLst/>
          </a:prstGeom>
          <a:solidFill>
            <a:srgbClr val="161D2A"/>
          </a:solidFill>
          <a:ln w="12700">
            <a:solidFill>
              <a:srgbClr val="0072F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7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Photometric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MobileFaceNet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192-dimensional face embedding
• L2-normalised unit vector
• Cosine similarity matching
• 99.28% LFW benchmark accuracy
• Weight: 0.75 (good light) / 0.30 (poor)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0" y="777240"/>
            <a:ext cx="3474720" cy="3474720"/>
          </a:xfrm>
          <a:prstGeom prst="rect">
            <a:avLst/>
          </a:prstGeom>
          <a:solidFill>
            <a:srgbClr val="161D2A"/>
          </a:solidFill>
          <a:ln w="12700">
            <a:solidFill>
              <a:srgbClr val="00D68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0" y="822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D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Geometric Structural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Mesh — 468 Landmarks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18288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lighting-invariant facial ratios
• Eye spacing, jaw width, nose ratios
• Scale &amp; rotation invariant
• Works in harsh sun / deep shadow
• Weight: 0.25 (good light) / 0.70 (poor)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49040" y="1463040"/>
            <a:ext cx="365760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6FF"/>
                </a:solidFill>
              </a:rPr>
              <a:t>+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Dynamic Weighting: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926080" y="4434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Light (40–180 brightness) → RGB 0.75 + Geo 0.25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Light (&lt;40 or &gt;180) → RGB 0.30 + Geo 0.70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&amp; TECH STACK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2697480" cy="23774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777240"/>
            <a:ext cx="2697480" cy="457200"/>
          </a:xfrm>
          <a:prstGeom prst="rect">
            <a:avLst/>
          </a:prstGeom>
          <a:solidFill>
            <a:srgbClr val="0072FF">
              <a:alpha val="4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046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BlazeFace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618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Range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224 KB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[1, 128, 128, 3]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896 anchors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MediaPipe • Apache 2.0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777240"/>
            <a:ext cx="2697480" cy="23774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777240"/>
            <a:ext cx="2697480" cy="457200"/>
          </a:xfrm>
          <a:prstGeom prst="rect">
            <a:avLst/>
          </a:prstGeom>
          <a:solidFill>
            <a:srgbClr val="0072FF">
              <a:alpha val="4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8046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MobileFaceNet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2618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37560" y="15544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5.1 MB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[1, 112, 112, 3]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192-d vector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99.28% LFW • Apache 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777240"/>
            <a:ext cx="2697480" cy="23774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777240"/>
            <a:ext cx="2697480" cy="457200"/>
          </a:xfrm>
          <a:prstGeom prst="rect">
            <a:avLst/>
          </a:prstGeom>
          <a:solidFill>
            <a:srgbClr val="0072FF">
              <a:alpha val="4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8046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 Face Landmarker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12618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15544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3.7 MB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RGB frame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468 landmarks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• Apache 2.0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91840"/>
            <a:ext cx="8412480" cy="502920"/>
          </a:xfrm>
          <a:prstGeom prst="rect">
            <a:avLst/>
          </a:prstGeom>
          <a:solidFill>
            <a:srgbClr val="00D68F">
              <a:alpha val="15000"/>
            </a:srgbClr>
          </a:solidFill>
          <a:ln w="12700">
            <a:solidFill>
              <a:srgbClr val="00D68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918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model bundle: 9.0 MB  ✓  (requirement: &lt;20 MB)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4343400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  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37360" y="4343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 bare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6120" y="4343400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TFLite Runtime 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17720" y="4343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react-native-fast-tflite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26480" y="4343400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Storage  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98080" y="4343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expo-sqlite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4690872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Decode  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737360" y="46908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jpeg-js (pure JS)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46120" y="4690872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375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 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17720" y="46908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126480" y="4690872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 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98080" y="46908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@rn-community/netinfo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LIVENESS DETECTION — ANTI-SPOOFING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3931920" cy="3657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777240"/>
            <a:ext cx="3931920" cy="457200"/>
          </a:xfrm>
          <a:prstGeom prst="rect">
            <a:avLst/>
          </a:prstGeom>
          <a:solidFill>
            <a:srgbClr val="1A1F35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9552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CHECK  (Single Frame)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🌿  Texture Variance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mean local neighbourhood variance. Printed photos: unnaturally low.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&gt; 200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 Colour Score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Per-channel RGB variance. Printed photos: compressed, reduced distribution.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&gt; 300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777240"/>
            <a:ext cx="4206240" cy="3657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777240"/>
            <a:ext cx="4206240" cy="457200"/>
          </a:xfrm>
          <a:prstGeom prst="rect">
            <a:avLst/>
          </a:prstGeom>
          <a:solidFill>
            <a:srgbClr val="1A1F35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79552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CHECK  (Two-Frame Delta)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1371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Random challenge selected (blink / smile / turn)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18470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Silent 'before' frame captured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09160" y="232257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Challenge prompt shown (3s countdown)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09160" y="279806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'After' frame captured on countdown end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09160" y="32735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Mean absolute pixel delta computed (64×64)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3931920" cy="640080"/>
          </a:xfrm>
          <a:prstGeom prst="rect">
            <a:avLst/>
          </a:prstGeom>
          <a:solidFill>
            <a:srgbClr val="00D68F">
              <a:alpha val="15000"/>
            </a:srgbClr>
          </a:solidFill>
          <a:ln w="12700">
            <a:solidFill>
              <a:srgbClr val="00D68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5204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delta &gt; 6  •  Photo replay ≈ 0  →  Randomised = replay-resistant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passive AND active checks must pass before face matching proceeds.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ENROLLMENT &amp; OFFLINE VERIFICATION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ENROLLMENT PROCESS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Details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+ Employee ID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45920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30552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0552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901952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01952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Captures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901952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Front-facing camera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90672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75304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75304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46704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46704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46704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BlazeFace validates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35424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0056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0056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91456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91456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91456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192-d MobileFaceNet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80176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64808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64808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236208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6208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36208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embeddings merged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24928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09560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0956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80960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80960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80960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on-device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576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DATABASE SCHEMA  (expo-sqlite)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3639312"/>
            <a:ext cx="4114800" cy="13258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3639312"/>
            <a:ext cx="4114800" cy="320040"/>
          </a:xfrm>
          <a:prstGeom prst="rect">
            <a:avLst/>
          </a:prstGeom>
          <a:solidFill>
            <a:srgbClr val="0072FF">
              <a:alpha val="3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6393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TABLE: users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40050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 •   name   •   employee_id   •   rgb_embedding (JSON)   •   geo_vector (JSON)   •   enrolled_at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54880" y="3639312"/>
            <a:ext cx="4114800" cy="13258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754880" y="3639312"/>
            <a:ext cx="4114800" cy="320040"/>
          </a:xfrm>
          <a:prstGeom prst="rect">
            <a:avLst/>
          </a:prstGeom>
          <a:solidFill>
            <a:srgbClr val="0072FF">
              <a:alpha val="3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6393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TABLE: attendance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846320" y="40050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 •   user_id   •   user_name   •   timestamp   •   confidence   •   channel   •   synced (0/1)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SYNC, SECURITY &amp; PRIVACY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114800" cy="4023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8869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SYNC MECHANISM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371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NetInfo detects connectivity restored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883664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836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18836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all records with synced = 0 from SQLite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395728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9572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23957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each as JSON to AWS API Gateway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2907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HTTP 200 → mark synced = 1 in SQLite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419856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4198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34198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store updated → UI reflects ✓ Synced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9319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3931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Auto-triggers on reconnect + manual sync button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498848"/>
            <a:ext cx="3840480" cy="164592"/>
          </a:xfrm>
          <a:prstGeom prst="rect">
            <a:avLst/>
          </a:prstGeom>
          <a:solidFill>
            <a:srgbClr val="00D68F">
              <a:alpha val="15000"/>
            </a:srgbClr>
          </a:solidFill>
          <a:ln w="12700">
            <a:solidFill>
              <a:srgbClr val="00D68F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4988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Payload: attendanceId  userId  userName  timestamp  confidence  channel  deviceId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54880" y="777240"/>
            <a:ext cx="4023360" cy="4023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92040" y="8869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ZERO BIOMETRIC LEAKAGE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92040" y="13716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25780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images never stored beyond capture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18836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57800" y="18836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embeddings stay on-device only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3957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257800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attendance metadata sent to cloud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290779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257800" y="29077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encrypted via expo-secure-store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41985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57800" y="34198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endpoint = zero biometric risk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9204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57800" y="3931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run on-device CPU, no API calls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92040" y="4480560"/>
            <a:ext cx="3749040" cy="182880"/>
          </a:xfrm>
          <a:prstGeom prst="rect">
            <a:avLst/>
          </a:prstGeom>
          <a:solidFill>
            <a:srgbClr val="00D68F">
              <a:alpha val="15000"/>
            </a:srgbClr>
          </a:solidFill>
          <a:ln w="12700">
            <a:solidFill>
              <a:srgbClr val="00D68F">
                <a:alpha val="4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4480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only • All Apache 2.0 / MIT licensed components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BENCHMARKS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965960" cy="15544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777240"/>
            <a:ext cx="19659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&lt;1s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Pipeline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~806ms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14600" y="777240"/>
            <a:ext cx="1965960" cy="15544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777240"/>
            <a:ext cx="19659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14600" y="8686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 MB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1460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Bundle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14600" y="2011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req: &lt;20 MB 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777240"/>
            <a:ext cx="1965960" cy="15544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777240"/>
            <a:ext cx="19659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8686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85–95%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66344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Confidence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2011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conditions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12280" y="777240"/>
            <a:ext cx="1965960" cy="15544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12280" y="777240"/>
            <a:ext cx="19659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8686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132 MB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81228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APK Size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011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incl. all models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BREAKDOWN</a:t>
            </a:r>
            <a:endParaRPr lang="en-US" sz="100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365760" y="2880360"/>
          <a:ext cx="502920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566928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RESULTS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880360"/>
          <a:ext cx="3200400" cy="2057398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 (3 captures)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enrolled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85–95%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enroll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verify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on reconnect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&amp; 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DATALAKE 3.0 INTEGRATION — 7 STEPS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70432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70432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1170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TFLite model files → Datalake 3.0 assets/models/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09344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9344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09344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16093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install: react-native-fast-tflite, expo-image-manipulator, jpeg-js, expo-sqlite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048256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48256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48256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20482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src/ml/ directory (self-contained, no circular deps)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487168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487168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87168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src/db/sqlite.ts + src/sync/awsSync.ts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26080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26080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29260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SYNC_ENDPOINT → Datalake 3.0 AWS API Gateway URL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3364992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64992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364992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4672" y="33649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screens to existing navigation (navigate + goBack props compatible)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803904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803904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803904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4672" y="3803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metro.config.js → assetExts.push('tflite', 'task') → EAS rebuild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577840" y="777240"/>
            <a:ext cx="3337560" cy="4114800"/>
          </a:xfrm>
          <a:prstGeom prst="rect">
            <a:avLst/>
          </a:prstGeom>
          <a:solidFill>
            <a:srgbClr val="161D2A"/>
          </a:solidFill>
          <a:ln w="12700">
            <a:solidFill>
              <a:srgbClr val="00C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577840" y="777240"/>
            <a:ext cx="33375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0" y="93268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PRISM DELIVERS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669280" y="13716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100% offline operation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0" y="175564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&lt;1s inference on mid-range CPU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0" y="213969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9 MB total model bundle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0" y="252374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Dual-channel lighting-invariant auth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0" y="290779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Passive + active liveness detection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69280" y="32918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Zero biometric cloud leakage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0" y="367588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Auto-sync on reconnect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669280" y="405993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Drop-in Datalake 3.0 integration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0" y="444398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All Apache 2.0 / MIT licensed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72FF">
              <a:alpha val="20000"/>
            </a:srgbClr>
          </a:solidFill>
          <a:ln w="12700">
            <a:solidFill>
              <a:srgbClr val="0072FF">
                <a:alpha val="2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•  NHAI </a:t>
            </a:r>
            <a:r>
              <a:rPr lang="en-US" sz="100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7.0  </a:t>
            </a: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MKN Sai Varun   •  github.com/MKN-Sai-Varun/PRISM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1026</Words>
  <Application>Microsoft Office PowerPoint</Application>
  <PresentationFormat>On-screen Show (16:9)</PresentationFormat>
  <Paragraphs>230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PRISM — NHAI Hackathon 2026</dc:title>
  <dc:subject>PptxGenJS Presentation</dc:subject>
  <dc:creator>Varun MKN</dc:creator>
  <cp:lastModifiedBy>PHANI VARDHAN</cp:lastModifiedBy>
  <cp:revision>4</cp:revision>
  <dcterms:created xsi:type="dcterms:W3CDTF">2026-06-04T01:35:18Z</dcterms:created>
  <dcterms:modified xsi:type="dcterms:W3CDTF">2026-06-04T02:13:00Z</dcterms:modified>
</cp:coreProperties>
</file>