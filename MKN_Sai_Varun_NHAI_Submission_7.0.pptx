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spPr>
            <a:solidFill>
              <a:srgbClr val="0072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C66-4A4E-AE5E-77AE0D28B025}"/>
              </c:ext>
            </c:extLst>
          </c:dPt>
          <c:dPt>
            <c:idx val="1"/>
            <c:invertIfNegative val="0"/>
            <c:bubble3D val="0"/>
            <c:spPr>
              <a:solidFill>
                <a:srgbClr val="00C6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66-4A4E-AE5E-77AE0D28B025}"/>
              </c:ext>
            </c:extLst>
          </c:dPt>
          <c:dPt>
            <c:idx val="2"/>
            <c:invertIfNegative val="0"/>
            <c:bubble3D val="0"/>
            <c:spPr>
              <a:solidFill>
                <a:srgbClr val="00D6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66-4A4E-AE5E-77AE0D28B025}"/>
              </c:ext>
            </c:extLst>
          </c:dPt>
          <c:dPt>
            <c:idx val="3"/>
            <c:invertIfNegative val="0"/>
            <c:bubble3D val="0"/>
            <c:spPr>
              <a:solidFill>
                <a:srgbClr val="FFB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66-4A4E-AE5E-77AE0D28B025}"/>
              </c:ext>
            </c:extLst>
          </c:dPt>
          <c:dPt>
            <c:idx val="4"/>
            <c:invertIfNegative val="0"/>
            <c:bubble3D val="0"/>
            <c:spPr>
              <a:solidFill>
                <a:srgbClr val="8B9D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C66-4A4E-AE5E-77AE0D28B02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BlazeFace Detection</c:v>
                </c:pt>
                <c:pt idx="1">
                  <c:v>MobileFaceNet Embedding</c:v>
                </c:pt>
                <c:pt idx="2">
                  <c:v>Liveness Check</c:v>
                </c:pt>
                <c:pt idx="3">
                  <c:v>Fusion Matching</c:v>
                </c:pt>
                <c:pt idx="4">
                  <c:v>SQLite Write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262</c:v>
                </c:pt>
                <c:pt idx="1">
                  <c:v>216</c:v>
                </c:pt>
                <c:pt idx="2">
                  <c:v>85</c:v>
                </c:pt>
                <c:pt idx="3">
                  <c:v>12</c:v>
                </c:pt>
                <c:pt idx="4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C66-4A4E-AE5E-77AE0D28B0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D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49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68580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9728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50876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27432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68580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109728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0" y="150876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7432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68580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109728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50876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27432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68580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109728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50876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7432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68580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09728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150876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41080" y="27432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68580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41080" y="109728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41080" y="1508760"/>
            <a:ext cx="54864" cy="54864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9144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PRISM</a:t>
            </a:r>
            <a:endParaRPr lang="en-US" sz="7200" dirty="0"/>
          </a:p>
        </p:txBody>
      </p:sp>
      <p:sp>
        <p:nvSpPr>
          <p:cNvPr id="28" name="Shape 26"/>
          <p:cNvSpPr/>
          <p:nvPr/>
        </p:nvSpPr>
        <p:spPr>
          <a:xfrm>
            <a:off x="457200" y="2148840"/>
            <a:ext cx="2926080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Biometric Mesh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2788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Facial Recognition for Field Personnel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Hackathon 2026  </a:t>
            </a: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 Datalake 3.0 Integration    |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MKN Sai Varun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1371600"/>
            <a:ext cx="2011680" cy="2011680"/>
          </a:xfrm>
          <a:prstGeom prst="rect">
            <a:avLst/>
          </a:prstGeom>
          <a:solidFill>
            <a:srgbClr val="161D2A"/>
          </a:solidFill>
          <a:ln w="12700">
            <a:solidFill>
              <a:srgbClr val="00C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6858000" y="2377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ON-DEVICE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personnel in remote locations need secure attendance — without internet.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292608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📶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Connectivity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job sites have zero or intermittent network access. Cloud-based systems fail completely.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651760" cy="292608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☀️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Conditions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834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Indian field sites: harsh sunlight, deep shadows, dust, and rapid lighting changes.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651760" cy="292608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Spoofing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834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badge systems can be fooled with a printed photo. Biometric liveness detection required.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072FF">
              <a:alpha val="20000"/>
            </a:srgbClr>
          </a:solidFill>
          <a:ln w="12700">
            <a:solidFill>
              <a:srgbClr val="0072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4632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solves all three — entirely on-device, no internet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188720" cy="137160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1645920"/>
            <a:ext cx="256032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1005840"/>
            <a:ext cx="1188720" cy="137160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19072" y="1051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19072" y="1600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07792" y="1645920"/>
            <a:ext cx="256032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3824" y="1005840"/>
            <a:ext cx="1188720" cy="137160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63824" y="1051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63824" y="1600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BlazeFace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52544" y="1645920"/>
            <a:ext cx="256032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005840"/>
            <a:ext cx="1188720" cy="137160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1051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08576" y="1600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97296" y="1645920"/>
            <a:ext cx="256032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1005840"/>
            <a:ext cx="1188720" cy="137160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53328" y="1051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53328" y="1600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42048" y="1645920"/>
            <a:ext cx="256032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005840"/>
            <a:ext cx="1188720" cy="1371600"/>
          </a:xfrm>
          <a:prstGeom prst="rect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051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0" y="1600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2697480" cy="173736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063240"/>
            <a:ext cx="64008" cy="17373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🔆  ABM Dual-Channel Fusion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" y="3566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blends RGB photometric + geometric ratio channels based on lighting conditions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063240"/>
            <a:ext cx="2697480" cy="173736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063240"/>
            <a:ext cx="64008" cy="17373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Zero Biometric Leakage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0712" y="3566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metadata syncs to cloud. Face images and embeddings never leave the device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063240"/>
            <a:ext cx="2697480" cy="173736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063240"/>
            <a:ext cx="64008" cy="173736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3154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Sub-Second Inference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91072" y="3566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&lt;1s on mid-range Android CPU with 9MB total model bundle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ABM — ADAPTIVE BIOMETRIC MESH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474720" cy="3474720"/>
          </a:xfrm>
          <a:prstGeom prst="rect">
            <a:avLst/>
          </a:prstGeom>
          <a:solidFill>
            <a:srgbClr val="161D2A"/>
          </a:solidFill>
          <a:ln w="12700">
            <a:solidFill>
              <a:srgbClr val="007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7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Photometric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192-dimensional face embedding
• L2-normalised unit vector
• Cosine similarity matching
• 99.28% LFW benchmark accuracy
• Weight: 0.75 (good light) / 0.30 (poor)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777240"/>
            <a:ext cx="3474720" cy="3474720"/>
          </a:xfrm>
          <a:prstGeom prst="rect">
            <a:avLst/>
          </a:prstGeom>
          <a:solidFill>
            <a:srgbClr val="161D2A"/>
          </a:solidFill>
          <a:ln w="12700">
            <a:solidFill>
              <a:srgbClr val="00D68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Structural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Mesh — 468 Landmarks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18288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lighting-invariant facial ratios
• Eye spacing, jaw width, nose ratios
• Scale &amp; rotation invariant
• Works in harsh sun / deep shadow
• Weight: 0.25 (good light) / 0.70 (poor)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463040"/>
            <a:ext cx="365760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FF"/>
                </a:solidFill>
              </a:rPr>
              <a:t>+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Dynamic Weighting: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Light (40–180 brightness) → RGB 0.75 + Geo 0.25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Light (&lt;40 or &gt;180) → RGB 0.30 + Geo 0.70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TECH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97480" cy="237744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697480" cy="457200"/>
          </a:xfrm>
          <a:prstGeom prst="rect">
            <a:avLst/>
          </a:prstGeom>
          <a:solidFill>
            <a:srgbClr val="0072FF">
              <a:alpha val="4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BlazeFace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Range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224 KB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[1, 128, 128, 3]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896 anchors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MediaPipe • Apache 2.0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697480" cy="237744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777240"/>
            <a:ext cx="2697480" cy="457200"/>
          </a:xfrm>
          <a:prstGeom prst="rect">
            <a:avLst/>
          </a:prstGeom>
          <a:solidFill>
            <a:srgbClr val="0072FF">
              <a:alpha val="4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8046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MobileFaceNet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5544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5.1 MB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[1, 112, 112, 3]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192-d vector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99.28% LFW • Apache 2.0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697480" cy="237744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777240"/>
            <a:ext cx="2697480" cy="457200"/>
          </a:xfrm>
          <a:prstGeom prst="rect">
            <a:avLst/>
          </a:prstGeom>
          <a:solidFill>
            <a:srgbClr val="0072FF">
              <a:alpha val="4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046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Face Landmarker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55448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3.7 MB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RGB 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468 landmarks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• Apache 2.0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502920"/>
          </a:xfrm>
          <a:prstGeom prst="rect">
            <a:avLst/>
          </a:prstGeom>
          <a:solidFill>
            <a:srgbClr val="00D68F">
              <a:alpha val="15000"/>
            </a:srgbClr>
          </a:solidFill>
          <a:ln w="12700">
            <a:solidFill>
              <a:srgbClr val="00D68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91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model bundle: 9.0 MB  ✓  (requirement: &lt;20 MB)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2697480" cy="29260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43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4343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 bare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4343400"/>
            <a:ext cx="2697480" cy="29260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4343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TFLite Runtime 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4343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react-native-fast-tflite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4343400"/>
            <a:ext cx="2697480" cy="29260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4343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  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0" y="43434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expo-sqlite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690872"/>
            <a:ext cx="2697480" cy="29260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Decode 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4690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jpeg-js (pure JS)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4690872"/>
            <a:ext cx="2697480" cy="29260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 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17720" y="4690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4690872"/>
            <a:ext cx="2697480" cy="29260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 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4690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@rn-community/netinfo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DETECTION — ANTI-SPOOFING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365760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3931920" cy="457200"/>
          </a:xfrm>
          <a:prstGeom prst="rect">
            <a:avLst/>
          </a:prstGeom>
          <a:solidFill>
            <a:srgbClr val="1A1F35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955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CHECK  (Single Frame)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 Texture Variance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mean local neighbourhood variance. Printed photos: unnaturally low.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&gt; 200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Colour 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RGB variance. Printed photos: compressed, reduced distribution.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&gt; 300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4206240" cy="365760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777240"/>
            <a:ext cx="4206240" cy="457200"/>
          </a:xfrm>
          <a:prstGeom prst="rect">
            <a:avLst/>
          </a:prstGeom>
          <a:solidFill>
            <a:srgbClr val="1A1F35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955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CHECK  (Two-Frame Delta)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Random challenge selected (blink / smile / turn)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8470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Silent 'before' frame captured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322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Challenge prompt shown (3s countdown)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7980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'After' frame captured on countdown end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3273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Mean absolute pixel delta computed (64×64)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520440"/>
            <a:ext cx="3931920" cy="640080"/>
          </a:xfrm>
          <a:prstGeom prst="rect">
            <a:avLst/>
          </a:prstGeom>
          <a:solidFill>
            <a:srgbClr val="00D68F">
              <a:alpha val="15000"/>
            </a:srgbClr>
          </a:solidFill>
          <a:ln w="12700">
            <a:solidFill>
              <a:srgbClr val="00D68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delta &gt; 6  •  Photo replay ≈ 0  →  Randomised = replay-resistant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passive AND active checks must pass before face matching proceeds.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&amp; OFFLINE VERIFICATION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PROCESS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548640" cy="548640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88720" cy="118872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Details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Employee 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1417320"/>
            <a:ext cx="164592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0552" y="1188720"/>
            <a:ext cx="548640" cy="548640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01952" y="1828800"/>
            <a:ext cx="1188720" cy="118872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Captures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01952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Front-facing camera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90672" y="1417320"/>
            <a:ext cx="164592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75304" y="1188720"/>
            <a:ext cx="548640" cy="548640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46704" y="1828800"/>
            <a:ext cx="1188720" cy="118872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Face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6704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BlazeFace validates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35424" y="1417320"/>
            <a:ext cx="164592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0056" y="1188720"/>
            <a:ext cx="548640" cy="548640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91456" y="1828800"/>
            <a:ext cx="1188720" cy="118872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192-d MobileFaceNet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0176" y="1417320"/>
            <a:ext cx="164592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64808" y="1188720"/>
            <a:ext cx="548640" cy="548640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36208" y="1828800"/>
            <a:ext cx="1188720" cy="118872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embeddings merged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24928" y="1417320"/>
            <a:ext cx="164592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09560" y="1188720"/>
            <a:ext cx="548640" cy="548640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95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80960" y="1828800"/>
            <a:ext cx="1188720" cy="118872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on-device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DATABASE SCHEMA  (expo-sqlite)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639312"/>
            <a:ext cx="4114800" cy="132588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639312"/>
            <a:ext cx="4114800" cy="320040"/>
          </a:xfrm>
          <a:prstGeom prst="rect">
            <a:avLst/>
          </a:prstGeom>
          <a:solidFill>
            <a:srgbClr val="0072FF">
              <a:alpha val="3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users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0050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 •   name   •   employee_id   •   rgb_embedding (JSON)   •   geo_vector (JSON)   •   enrolled_at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639312"/>
            <a:ext cx="4114800" cy="132588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639312"/>
            <a:ext cx="4114800" cy="320040"/>
          </a:xfrm>
          <a:prstGeom prst="rect">
            <a:avLst/>
          </a:prstGeom>
          <a:solidFill>
            <a:srgbClr val="0072FF">
              <a:alpha val="3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attendance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40050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 •   user_id   •   user_name   •   timestamp   •   confidence   •   channel   •   synced (0/1)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SYNC, SECURITY &amp; PRIVACY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86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SYNC MECHANISM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56032" cy="256032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detects connectivity restored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83664"/>
            <a:ext cx="256032" cy="256032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836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883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records with synced = 0 from SQLite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95728"/>
            <a:ext cx="256032" cy="256032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2395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each as JSON to AWS API Gateway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907792"/>
            <a:ext cx="256032" cy="256032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07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2907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HTTP 200 → mark synced = 1 in SQLite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419856"/>
            <a:ext cx="256032" cy="256032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19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3419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 updated → UI reflects ✓ Synced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931920"/>
            <a:ext cx="256032" cy="256032"/>
          </a:xfrm>
          <a:prstGeom prst="ellipse">
            <a:avLst/>
          </a:prstGeom>
          <a:solidFill>
            <a:srgbClr val="0072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Auto-triggers on reconnect + manual sync button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498848"/>
            <a:ext cx="3840480" cy="164592"/>
          </a:xfrm>
          <a:prstGeom prst="rect">
            <a:avLst/>
          </a:prstGeom>
          <a:solidFill>
            <a:srgbClr val="00D68F">
              <a:alpha val="15000"/>
            </a:srgbClr>
          </a:solidFill>
          <a:ln w="12700">
            <a:solidFill>
              <a:srgbClr val="00D68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988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attendanceId  userId  userName  timestamp  confidence  channel  deviceId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54880" y="777240"/>
            <a:ext cx="4023360" cy="402336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886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ZERO BIOMETRIC LEAKAGE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1371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68F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images never stored beyond capture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18836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68F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57800" y="1883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embeddings stay on-device only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3957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68F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attendance metadata sent to cloud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90779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68F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57800" y="2907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encrypted via expo-secure-store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4198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68F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57800" y="34198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endpoint = zero biometric risk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931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68F"/>
                </a:solidFill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5780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run on-device CPU, no API calls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4480560"/>
            <a:ext cx="3749040" cy="182880"/>
          </a:xfrm>
          <a:prstGeom prst="rect">
            <a:avLst/>
          </a:prstGeom>
          <a:solidFill>
            <a:srgbClr val="00D68F">
              <a:alpha val="15000"/>
            </a:srgbClr>
          </a:solidFill>
          <a:ln w="12700">
            <a:solidFill>
              <a:srgbClr val="00D68F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4805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only • All Apache 2.0 / MIT licensed components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BENCHMARKS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65960" cy="155448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196596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~806ms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1965960" cy="155448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777240"/>
            <a:ext cx="196596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868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MB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Bundle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011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req: &lt;20 MB 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1965960" cy="155448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77240"/>
            <a:ext cx="196596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868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85–95%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6344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Confidence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conditions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777240"/>
            <a:ext cx="1965960" cy="1554480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777240"/>
            <a:ext cx="196596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868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132 </a:t>
            </a:r>
            <a:r>
              <a:rPr lang="en-US" sz="30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MB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1228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APK Size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0116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all models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BREAKDOWN</a:t>
            </a:r>
            <a:endParaRPr lang="en-US" sz="10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65760" y="2880360"/>
          <a:ext cx="50292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566928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880360"/>
          <a:ext cx="3200400" cy="205739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 (3 captures)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enrolled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85–95%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enroll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verify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on reconnect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DATALAKE 3.0 INTEGRATION — 7 STEPS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5029200" cy="38404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347472" cy="384048"/>
          </a:xfrm>
          <a:prstGeom prst="rect">
            <a:avLst/>
          </a:prstGeom>
          <a:solidFill>
            <a:srgbClr val="0072FF">
              <a:alpha val="6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170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TFLite model files → Datalake 3.0 assets/models/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5029200" cy="38404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9344"/>
            <a:ext cx="347472" cy="384048"/>
          </a:xfrm>
          <a:prstGeom prst="rect">
            <a:avLst/>
          </a:prstGeom>
          <a:solidFill>
            <a:srgbClr val="0072FF">
              <a:alpha val="6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0934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6093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install: react-native-fast-tflite, expo-image-manipulator, jpeg-js, expo-sqlite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048256"/>
            <a:ext cx="5029200" cy="38404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48256"/>
            <a:ext cx="347472" cy="384048"/>
          </a:xfrm>
          <a:prstGeom prst="rect">
            <a:avLst/>
          </a:prstGeom>
          <a:solidFill>
            <a:srgbClr val="0072FF">
              <a:alpha val="6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4825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20482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src/ml/ directory (self-contained, no circular deps)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5029200" cy="38404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87168"/>
            <a:ext cx="347472" cy="384048"/>
          </a:xfrm>
          <a:prstGeom prst="rect">
            <a:avLst/>
          </a:prstGeom>
          <a:solidFill>
            <a:srgbClr val="0072FF">
              <a:alpha val="6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8716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24871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src/db/sqlite.ts + src/sync/awsSync.ts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5029200" cy="38404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26080"/>
            <a:ext cx="347472" cy="384048"/>
          </a:xfrm>
          <a:prstGeom prst="rect">
            <a:avLst/>
          </a:prstGeom>
          <a:solidFill>
            <a:srgbClr val="0072FF">
              <a:alpha val="6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2608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2926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SYNC_ENDPOINT → Datalake 3.0 AWS API Gateway URL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364992"/>
            <a:ext cx="5029200" cy="38404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347472" cy="384048"/>
          </a:xfrm>
          <a:prstGeom prst="rect">
            <a:avLst/>
          </a:prstGeom>
          <a:solidFill>
            <a:srgbClr val="0072FF">
              <a:alpha val="6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6499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33649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 to existing navigation (navigate + goBack props compatible)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803904"/>
            <a:ext cx="5029200" cy="384048"/>
          </a:xfrm>
          <a:prstGeom prst="rect">
            <a:avLst/>
          </a:prstGeom>
          <a:solidFill>
            <a:srgbClr val="161D2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803904"/>
            <a:ext cx="347472" cy="384048"/>
          </a:xfrm>
          <a:prstGeom prst="rect">
            <a:avLst/>
          </a:prstGeom>
          <a:solidFill>
            <a:srgbClr val="0072FF">
              <a:alpha val="60000"/>
            </a:srgbClr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0390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38039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metro.config.js → assetExts.push('tflite', 'task') → EAS rebuild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777240"/>
            <a:ext cx="3337560" cy="4114800"/>
          </a:xfrm>
          <a:prstGeom prst="rect">
            <a:avLst/>
          </a:prstGeom>
          <a:solidFill>
            <a:srgbClr val="161D2A"/>
          </a:solidFill>
          <a:ln w="12700">
            <a:solidFill>
              <a:srgbClr val="00C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7840" y="777240"/>
            <a:ext cx="333756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9326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PRISM DELIVERS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0" y="13716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offline operation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0" y="17556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&lt;1s inference on mid-range CPU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213969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 MB total model bundle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25237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Dual-channel lighting-invariant auth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0" y="29077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Passive + active liveness detection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0" y="32918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biometric cloud leakage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0" y="36758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Auto-sync on reconnect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9280" y="405993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Drop-in Datalake 3.0 integration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0" y="44439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Apache 2.0 / MIT licensed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72FF">
              <a:alpha val="20000"/>
            </a:srgbClr>
          </a:solidFill>
          <a:ln w="12700">
            <a:solidFill>
              <a:srgbClr val="0072FF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•  NHAI </a:t>
            </a:r>
            <a:r>
              <a:rPr lang="en-US" sz="100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</a:t>
            </a: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MKN Sai Varun   •  github.com/MKN-Sai-Varun/PRISM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Microsoft Office PowerPoint</Application>
  <PresentationFormat>On-screen Show (16:9)</PresentationFormat>
  <Paragraphs>230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— NHAI Hackathon 2026</dc:title>
  <dc:subject>PptxGenJS Presentation</dc:subject>
  <dc:creator>Varun MKN</dc:creator>
  <cp:lastModifiedBy>PHANI VARDHAN</cp:lastModifiedBy>
  <cp:revision>4</cp:revision>
  <dcterms:created xsi:type="dcterms:W3CDTF">2026-06-04T01:35:18Z</dcterms:created>
  <dcterms:modified xsi:type="dcterms:W3CDTF">2026-06-04T02:20:29Z</dcterms:modified>
</cp:coreProperties>
</file>